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8E465A-28ED-4E2F-ABBB-016C10CA9A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739A31-878D-410B-83C1-47DC762AB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BF1D50-E67E-4792-82FE-C7EA7CF4C0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90F83B-6A45-47D7-902C-2327AA5948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6A38BE-C80E-4174-A37E-548F9DEBCA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C5D830-413C-4A41-A073-A825781FE5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EE8D32-C460-4027-A740-774E3ED5A8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DF1A94-65F6-460F-BC75-2E5BD7929F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3B4F5-4AD9-42CB-8B8B-11B2391B42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D5F915-C75D-4F75-97D2-EE85D99D1A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C45EA3-41CF-43F2-9DD1-9B0449B046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731520"/>
            <a:ext cx="91436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V</a:t>
            </a: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e</a:t>
            </a: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t</a:t>
            </a: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i</a:t>
            </a: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f</a:t>
            </a:r>
            <a:r>
              <a:rPr lang="en-US" sz="9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y</a:t>
            </a:r>
            <a:endParaRPr lang="en-U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2468880"/>
            <a:ext cx="82292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AI-Powered Non-Interest Private </a:t>
            </a:r>
            <a:r>
              <a:rPr lang="en-US" sz="22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Credit Infrastructure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on the Canton Blockchain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3520440"/>
            <a:ext cx="8229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Connecting Nigerian SME borrowers with licensed </a:t>
            </a:r>
            <a:r>
              <a:rPr lang="en-US" sz="14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financial institutions through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 fully digital, Shariah-compliant Murabahah(Cost-plus) </a:t>
            </a:r>
            <a:r>
              <a:rPr lang="en-US" sz="14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financing workflow.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457200" y="461772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48640" y="4663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Canton / Daml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4114800" y="461772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206240" y="4663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5 AI Agents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7772400" y="461772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863840" y="466344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AAOIFI Std No. 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457200" y="509328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548640" y="5139000"/>
            <a:ext cx="3337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CBN /SEC NIFI-Aligned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4114800" y="509328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4206240" y="513900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10-Stage Borrower Lifecycle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15"/>
          <p:cNvSpPr/>
          <p:nvPr/>
        </p:nvSpPr>
        <p:spPr>
          <a:xfrm>
            <a:off x="7772400" y="5093280"/>
            <a:ext cx="3520080" cy="3837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7863840" y="513900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FI Provider Onboarding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E553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THE PROBLEM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SME Financing in </a:t>
            </a: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Nigeria is Broken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457200" y="1234440"/>
            <a:ext cx="3657240" cy="2285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94360" y="12801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Borrowers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6"/>
          <p:cNvSpPr/>
          <p:nvPr/>
        </p:nvSpPr>
        <p:spPr>
          <a:xfrm>
            <a:off x="457200" y="1627560"/>
            <a:ext cx="11274120" cy="1224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594360" y="16916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Weeks to get approved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594360" y="19659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Repeat document submissions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594360" y="22402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No transparency into status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594360" y="25146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Inconsistent risk assessments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1"/>
          <p:cNvSpPr/>
          <p:nvPr/>
        </p:nvSpPr>
        <p:spPr>
          <a:xfrm>
            <a:off x="4434840" y="1234440"/>
            <a:ext cx="3657240" cy="2285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4572000" y="12801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Financial Institutions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3"/>
          <p:cNvSpPr/>
          <p:nvPr/>
        </p:nvSpPr>
        <p:spPr>
          <a:xfrm>
            <a:off x="457200" y="1627560"/>
            <a:ext cx="11274120" cy="1224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4572000" y="16916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Manual verification processes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4572000" y="19659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High underwriting cost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4572000" y="22402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Fragmented borrower 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4572000" y="25146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Compliance burden at every stage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18"/>
          <p:cNvSpPr/>
          <p:nvPr/>
        </p:nvSpPr>
        <p:spPr>
          <a:xfrm>
            <a:off x="8412480" y="1234440"/>
            <a:ext cx="3657240" cy="2285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9"/>
          <p:cNvSpPr/>
          <p:nvPr/>
        </p:nvSpPr>
        <p:spPr>
          <a:xfrm>
            <a:off x="8549640" y="12801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Regulators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0"/>
          <p:cNvSpPr/>
          <p:nvPr/>
        </p:nvSpPr>
        <p:spPr>
          <a:xfrm>
            <a:off x="457200" y="1627560"/>
            <a:ext cx="11274120" cy="1224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8549640" y="16916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No real-time portfolio visibility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8549640" y="19659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Audit trails are paper-based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8549640" y="22402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Fragmented compliance reporting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8549640" y="25146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✗  Limited supervisory oversight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5"/>
          <p:cNvSpPr/>
          <p:nvPr/>
        </p:nvSpPr>
        <p:spPr>
          <a:xfrm>
            <a:off x="457200" y="374904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6"/>
          <p:cNvSpPr/>
          <p:nvPr/>
        </p:nvSpPr>
        <p:spPr>
          <a:xfrm>
            <a:off x="640080" y="3840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40M+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7"/>
          <p:cNvSpPr/>
          <p:nvPr/>
        </p:nvSpPr>
        <p:spPr>
          <a:xfrm>
            <a:off x="640080" y="443484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Nigerian SMEs underserved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by conventional credit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28"/>
          <p:cNvSpPr/>
          <p:nvPr/>
        </p:nvSpPr>
        <p:spPr>
          <a:xfrm>
            <a:off x="4041720" y="374904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9"/>
          <p:cNvSpPr/>
          <p:nvPr/>
        </p:nvSpPr>
        <p:spPr>
          <a:xfrm>
            <a:off x="4224600" y="3840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$4.5T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0"/>
          <p:cNvSpPr/>
          <p:nvPr/>
        </p:nvSpPr>
        <p:spPr>
          <a:xfrm>
            <a:off x="4224600" y="443484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Global Islamic finance AUM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growing 10–12% annually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1"/>
          <p:cNvSpPr/>
          <p:nvPr/>
        </p:nvSpPr>
        <p:spPr>
          <a:xfrm>
            <a:off x="7616880" y="374904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2"/>
          <p:cNvSpPr/>
          <p:nvPr/>
        </p:nvSpPr>
        <p:spPr>
          <a:xfrm>
            <a:off x="7799760" y="3840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0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3"/>
          <p:cNvSpPr/>
          <p:nvPr/>
        </p:nvSpPr>
        <p:spPr>
          <a:xfrm>
            <a:off x="7799760" y="443484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Shared digital rails for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non-interest lenders today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4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THE SOLUTION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457200" y="502920"/>
            <a:ext cx="10972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One Platform. Every Stage of Murabahah Financing.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457200" y="126180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PARALLEL TRACK — RUNS ONCE PER PROVIDER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457200" y="1481400"/>
            <a:ext cx="2651400" cy="402120"/>
          </a:xfrm>
          <a:prstGeom prst="rect">
            <a:avLst/>
          </a:prstGeom>
          <a:solidFill>
            <a:srgbClr val="141C0A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502920" y="1527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FI Registers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3108960" y="152712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8"/>
          <p:cNvSpPr/>
          <p:nvPr/>
        </p:nvSpPr>
        <p:spPr>
          <a:xfrm>
            <a:off x="3291840" y="1481400"/>
            <a:ext cx="2651400" cy="402120"/>
          </a:xfrm>
          <a:prstGeom prst="rect">
            <a:avLst/>
          </a:prstGeom>
          <a:solidFill>
            <a:srgbClr val="141C0A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3337560" y="1527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Vetify Reviews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5943600" y="152712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1"/>
          <p:cNvSpPr/>
          <p:nvPr/>
        </p:nvSpPr>
        <p:spPr>
          <a:xfrm>
            <a:off x="6126480" y="1481400"/>
            <a:ext cx="2651400" cy="402120"/>
          </a:xfrm>
          <a:prstGeom prst="rect">
            <a:avLst/>
          </a:prstGeom>
          <a:solidFill>
            <a:srgbClr val="141C0A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6172200" y="1527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Instruments Approved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8778240" y="152712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4"/>
          <p:cNvSpPr/>
          <p:nvPr/>
        </p:nvSpPr>
        <p:spPr>
          <a:xfrm>
            <a:off x="8961120" y="1481400"/>
            <a:ext cx="265140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9006840" y="1527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ApproveFunding Unlocked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6"/>
          <p:cNvSpPr/>
          <p:nvPr/>
        </p:nvSpPr>
        <p:spPr>
          <a:xfrm>
            <a:off x="457200" y="1993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BORROWER LIFECYCLE — PER FINANCING REQUEST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7"/>
          <p:cNvSpPr/>
          <p:nvPr/>
        </p:nvSpPr>
        <p:spPr>
          <a:xfrm>
            <a:off x="45720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8"/>
          <p:cNvSpPr/>
          <p:nvPr/>
        </p:nvSpPr>
        <p:spPr>
          <a:xfrm>
            <a:off x="50292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Borrower KYC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2240280" y="22586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0"/>
          <p:cNvSpPr/>
          <p:nvPr/>
        </p:nvSpPr>
        <p:spPr>
          <a:xfrm>
            <a:off x="242316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1"/>
          <p:cNvSpPr/>
          <p:nvPr/>
        </p:nvSpPr>
        <p:spPr>
          <a:xfrm>
            <a:off x="246888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AI Verification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2"/>
          <p:cNvSpPr/>
          <p:nvPr/>
        </p:nvSpPr>
        <p:spPr>
          <a:xfrm>
            <a:off x="4206240" y="22586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23"/>
          <p:cNvSpPr/>
          <p:nvPr/>
        </p:nvSpPr>
        <p:spPr>
          <a:xfrm>
            <a:off x="438912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4"/>
          <p:cNvSpPr/>
          <p:nvPr/>
        </p:nvSpPr>
        <p:spPr>
          <a:xfrm>
            <a:off x="443484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AI Compliance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5"/>
          <p:cNvSpPr/>
          <p:nvPr/>
        </p:nvSpPr>
        <p:spPr>
          <a:xfrm>
            <a:off x="6172200" y="22586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26"/>
          <p:cNvSpPr/>
          <p:nvPr/>
        </p:nvSpPr>
        <p:spPr>
          <a:xfrm>
            <a:off x="635508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7"/>
          <p:cNvSpPr/>
          <p:nvPr/>
        </p:nvSpPr>
        <p:spPr>
          <a:xfrm>
            <a:off x="640080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AI Underwriting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8"/>
          <p:cNvSpPr/>
          <p:nvPr/>
        </p:nvSpPr>
        <p:spPr>
          <a:xfrm>
            <a:off x="8138160" y="22586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29"/>
          <p:cNvSpPr/>
          <p:nvPr/>
        </p:nvSpPr>
        <p:spPr>
          <a:xfrm>
            <a:off x="832104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0"/>
          <p:cNvSpPr/>
          <p:nvPr/>
        </p:nvSpPr>
        <p:spPr>
          <a:xfrm>
            <a:off x="836676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Murabahah Contract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1"/>
          <p:cNvSpPr/>
          <p:nvPr/>
        </p:nvSpPr>
        <p:spPr>
          <a:xfrm>
            <a:off x="10104120" y="22586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32"/>
          <p:cNvSpPr/>
          <p:nvPr/>
        </p:nvSpPr>
        <p:spPr>
          <a:xfrm>
            <a:off x="10287000" y="2212920"/>
            <a:ext cx="1782720" cy="402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3"/>
          <p:cNvSpPr/>
          <p:nvPr/>
        </p:nvSpPr>
        <p:spPr>
          <a:xfrm>
            <a:off x="10332720" y="225864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Repayment Monitor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4"/>
          <p:cNvSpPr/>
          <p:nvPr/>
        </p:nvSpPr>
        <p:spPr>
          <a:xfrm>
            <a:off x="457200" y="2834640"/>
            <a:ext cx="3474360" cy="182844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35"/>
          <p:cNvSpPr/>
          <p:nvPr/>
        </p:nvSpPr>
        <p:spPr>
          <a:xfrm>
            <a:off x="594360" y="2944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Automated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6"/>
          <p:cNvSpPr/>
          <p:nvPr/>
        </p:nvSpPr>
        <p:spPr>
          <a:xfrm>
            <a:off x="594360" y="327348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AI agents handle identity verification,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7"/>
          <p:cNvSpPr/>
          <p:nvPr/>
        </p:nvSpPr>
        <p:spPr>
          <a:xfrm>
            <a:off x="594360" y="352044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AML/KYB, DSCR scoring, delinquency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8"/>
          <p:cNvSpPr/>
          <p:nvPr/>
        </p:nvSpPr>
        <p:spPr>
          <a:xfrm>
            <a:off x="594360" y="376740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detection — decisions in seconds, not weeks.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39"/>
          <p:cNvSpPr/>
          <p:nvPr/>
        </p:nvSpPr>
        <p:spPr>
          <a:xfrm>
            <a:off x="4361760" y="2834640"/>
            <a:ext cx="3474360" cy="1828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0"/>
          <p:cNvSpPr/>
          <p:nvPr/>
        </p:nvSpPr>
        <p:spPr>
          <a:xfrm>
            <a:off x="4498920" y="2944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Shariah-Compliant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1"/>
          <p:cNvSpPr/>
          <p:nvPr/>
        </p:nvSpPr>
        <p:spPr>
          <a:xfrm>
            <a:off x="4498920" y="327348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Shariah Agent screens every application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2"/>
          <p:cNvSpPr/>
          <p:nvPr/>
        </p:nvSpPr>
        <p:spPr>
          <a:xfrm>
            <a:off x="4498920" y="352044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against AAOIFI Standards Nos. 8, 28 &amp; 40.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3"/>
          <p:cNvSpPr/>
          <p:nvPr/>
        </p:nvSpPr>
        <p:spPr>
          <a:xfrm>
            <a:off x="4498920" y="376740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NON_COMPLIANT = instant rejection.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44"/>
          <p:cNvSpPr/>
          <p:nvPr/>
        </p:nvSpPr>
        <p:spPr>
          <a:xfrm>
            <a:off x="8256960" y="2834640"/>
            <a:ext cx="3474360" cy="191988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45"/>
          <p:cNvSpPr/>
          <p:nvPr/>
        </p:nvSpPr>
        <p:spPr>
          <a:xfrm>
            <a:off x="8394120" y="2944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Provider-Gated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6"/>
          <p:cNvSpPr/>
          <p:nvPr/>
        </p:nvSpPr>
        <p:spPr>
          <a:xfrm>
            <a:off x="8394120" y="327348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Every FI must onboard before offering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7"/>
          <p:cNvSpPr/>
          <p:nvPr/>
        </p:nvSpPr>
        <p:spPr>
          <a:xfrm>
            <a:off x="8394120" y="352044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financing. Instrument permissions set per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8"/>
          <p:cNvSpPr/>
          <p:nvPr/>
        </p:nvSpPr>
        <p:spPr>
          <a:xfrm>
            <a:off x="8394120" y="376740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provider — NIFIs, Waqf, cooperatives all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9"/>
          <p:cNvSpPr/>
          <p:nvPr/>
        </p:nvSpPr>
        <p:spPr>
          <a:xfrm>
            <a:off x="8394120" y="4014360"/>
            <a:ext cx="3200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supported. ApproveFunding gated on-chain.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50"/>
          <p:cNvSpPr/>
          <p:nvPr/>
        </p:nvSpPr>
        <p:spPr>
          <a:xfrm>
            <a:off x="457200" y="4937760"/>
            <a:ext cx="11274120" cy="59400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51"/>
          <p:cNvSpPr/>
          <p:nvPr/>
        </p:nvSpPr>
        <p:spPr>
          <a:xfrm>
            <a:off x="640080" y="50292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"Every workflow transition is a Canton smart contract. Invalid state changes are compile-time errors — not runtime bugs."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2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HOW IT WORKS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Two </a:t>
            </a: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Onboarding </a:t>
            </a: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Tracks. Every </a:t>
            </a: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Step On-</a:t>
            </a: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Chain.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365760" y="1234440"/>
            <a:ext cx="11429640" cy="475200"/>
          </a:xfrm>
          <a:prstGeom prst="rect">
            <a:avLst/>
          </a:prstGeom>
          <a:solidFill>
            <a:srgbClr val="0F1608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48640" y="128016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Stage 0  —  FI Provider Onboarding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4754880" y="130752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FI self-registers → Vetify approves instruments (Murabahah / Ijarah / QardHasan) → ApprovedProvider contract gates ApproveFunding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457200" y="176472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BORROWER FINANCING LIFECYCLE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457200" y="199332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502920" y="20390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502920" y="2450520"/>
            <a:ext cx="2102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Borrower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                  Onboarding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1"/>
          <p:cNvSpPr/>
          <p:nvPr/>
        </p:nvSpPr>
        <p:spPr>
          <a:xfrm>
            <a:off x="2734200" y="199332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2779920" y="20390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2779920" y="2450520"/>
            <a:ext cx="2102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AI Verification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CAC · BVN · NIN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4"/>
          <p:cNvSpPr/>
          <p:nvPr/>
        </p:nvSpPr>
        <p:spPr>
          <a:xfrm>
            <a:off x="5010840" y="199332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5056560" y="20390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5056560" y="245052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Compliance Review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Shariah · AML · CDD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7"/>
          <p:cNvSpPr/>
          <p:nvPr/>
        </p:nvSpPr>
        <p:spPr>
          <a:xfrm>
            <a:off x="7287840" y="199332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7333560" y="20390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7333560" y="245052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Borrower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Approved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20"/>
          <p:cNvSpPr/>
          <p:nvPr/>
        </p:nvSpPr>
        <p:spPr>
          <a:xfrm>
            <a:off x="9564480" y="199332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9610200" y="20390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9610200" y="245052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Financing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Request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23"/>
          <p:cNvSpPr/>
          <p:nvPr/>
        </p:nvSpPr>
        <p:spPr>
          <a:xfrm>
            <a:off x="457200" y="309060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502920" y="313632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6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502920" y="354780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AI Underwriting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DSCR · Cash Flow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26"/>
          <p:cNvSpPr/>
          <p:nvPr/>
        </p:nvSpPr>
        <p:spPr>
          <a:xfrm>
            <a:off x="2734200" y="309060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2779920" y="313632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7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2779920" y="354780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Institution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Decision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9"/>
          <p:cNvSpPr/>
          <p:nvPr/>
        </p:nvSpPr>
        <p:spPr>
          <a:xfrm>
            <a:off x="5010840" y="309060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30"/>
          <p:cNvSpPr/>
          <p:nvPr/>
        </p:nvSpPr>
        <p:spPr>
          <a:xfrm>
            <a:off x="5056560" y="313632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8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1"/>
          <p:cNvSpPr/>
          <p:nvPr/>
        </p:nvSpPr>
        <p:spPr>
          <a:xfrm>
            <a:off x="5056560" y="354780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Murabahah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Execution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32"/>
          <p:cNvSpPr/>
          <p:nvPr/>
        </p:nvSpPr>
        <p:spPr>
          <a:xfrm>
            <a:off x="7287840" y="309060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33"/>
          <p:cNvSpPr/>
          <p:nvPr/>
        </p:nvSpPr>
        <p:spPr>
          <a:xfrm>
            <a:off x="7333560" y="313632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9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34"/>
          <p:cNvSpPr/>
          <p:nvPr/>
        </p:nvSpPr>
        <p:spPr>
          <a:xfrm>
            <a:off x="7333560" y="354780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AI Repayment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Monitoring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5"/>
          <p:cNvSpPr/>
          <p:nvPr/>
        </p:nvSpPr>
        <p:spPr>
          <a:xfrm>
            <a:off x="9564480" y="3090600"/>
            <a:ext cx="2194200" cy="1005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6"/>
          <p:cNvSpPr/>
          <p:nvPr/>
        </p:nvSpPr>
        <p:spPr>
          <a:xfrm>
            <a:off x="9610200" y="313632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10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37"/>
          <p:cNvSpPr/>
          <p:nvPr/>
        </p:nvSpPr>
        <p:spPr>
          <a:xfrm>
            <a:off x="9610200" y="3547800"/>
            <a:ext cx="2102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Contract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Closure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8"/>
          <p:cNvSpPr/>
          <p:nvPr/>
        </p:nvSpPr>
        <p:spPr>
          <a:xfrm>
            <a:off x="457200" y="4251960"/>
            <a:ext cx="5394600" cy="182844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39"/>
          <p:cNvSpPr/>
          <p:nvPr/>
        </p:nvSpPr>
        <p:spPr>
          <a:xfrm>
            <a:off x="594360" y="43617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Murabahah Acquisition Chain  (AAOIFI Std No. 8)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40"/>
          <p:cNvSpPr/>
          <p:nvPr/>
        </p:nvSpPr>
        <p:spPr>
          <a:xfrm>
            <a:off x="594360" y="4690800"/>
            <a:ext cx="5120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Wad (promise) → Wakala (agency) →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41"/>
          <p:cNvSpPr/>
          <p:nvPr/>
        </p:nvSpPr>
        <p:spPr>
          <a:xfrm>
            <a:off x="594360" y="4937760"/>
            <a:ext cx="5120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Asset Purchase → Qabdh (delivery) →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2"/>
          <p:cNvSpPr/>
          <p:nvPr/>
        </p:nvSpPr>
        <p:spPr>
          <a:xfrm>
            <a:off x="594360" y="5184720"/>
            <a:ext cx="5120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Murabahah Proposal → Bilateral Contract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43"/>
          <p:cNvSpPr/>
          <p:nvPr/>
        </p:nvSpPr>
        <p:spPr>
          <a:xfrm>
            <a:off x="6172200" y="4251960"/>
            <a:ext cx="5486040" cy="1919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4"/>
          <p:cNvSpPr/>
          <p:nvPr/>
        </p:nvSpPr>
        <p:spPr>
          <a:xfrm>
            <a:off x="6309360" y="436176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FI Provider Gate — ApproveFunding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5"/>
          <p:cNvSpPr/>
          <p:nvPr/>
        </p:nvSpPr>
        <p:spPr>
          <a:xfrm>
            <a:off x="6309360" y="4690800"/>
            <a:ext cx="5211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ApproveFunding verifies ApprovedProvider CID: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6"/>
          <p:cNvSpPr/>
          <p:nvPr/>
        </p:nvSpPr>
        <p:spPr>
          <a:xfrm>
            <a:off x="6309360" y="4937760"/>
            <a:ext cx="5211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correct FI + Murabahah in approved instruments.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7"/>
          <p:cNvSpPr/>
          <p:nvPr/>
        </p:nvSpPr>
        <p:spPr>
          <a:xfrm>
            <a:off x="6309360" y="5184720"/>
            <a:ext cx="5211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Unlicensed providers may still offer QardHasan.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48"/>
          <p:cNvSpPr/>
          <p:nvPr/>
        </p:nvSpPr>
        <p:spPr>
          <a:xfrm>
            <a:off x="6309360" y="5431680"/>
            <a:ext cx="5211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Contract key: one record per provider party.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9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AI AGENTS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5 Agents. Humans Stay in Control.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365760" y="1280160"/>
            <a:ext cx="11429640" cy="38376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457200" y="13258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Agent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2468880" y="13258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What It Does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7"/>
          <p:cNvSpPr/>
          <p:nvPr/>
        </p:nvSpPr>
        <p:spPr>
          <a:xfrm>
            <a:off x="6858000" y="13258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APIs Used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9418320" y="1325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Stage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9"/>
          <p:cNvSpPr/>
          <p:nvPr/>
        </p:nvSpPr>
        <p:spPr>
          <a:xfrm>
            <a:off x="365760" y="1664280"/>
            <a:ext cx="11429640" cy="383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457200" y="17190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Verification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2468880" y="171900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Identity, CAC registry, BVN/NIN, TIN validation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6858000" y="17190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mono.co Lookup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9418320" y="171900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Stage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4"/>
          <p:cNvSpPr/>
          <p:nvPr/>
        </p:nvSpPr>
        <p:spPr>
          <a:xfrm>
            <a:off x="365760" y="2066400"/>
            <a:ext cx="11429640" cy="383760"/>
          </a:xfrm>
          <a:prstGeom prst="rect">
            <a:avLst/>
          </a:prstGeom>
          <a:solidFill>
            <a:srgbClr val="0F1826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457200" y="21214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Shariah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2468880" y="21214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RAG over AAOIFI Standards — screens business type &amp; financing purpose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7"/>
          <p:cNvSpPr/>
          <p:nvPr/>
        </p:nvSpPr>
        <p:spPr>
          <a:xfrm>
            <a:off x="6858000" y="2121480"/>
            <a:ext cx="24685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FAISS · OpenAI Embeddings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9418320" y="21214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Stage 3 §0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19"/>
          <p:cNvSpPr/>
          <p:nvPr/>
        </p:nvSpPr>
        <p:spPr>
          <a:xfrm>
            <a:off x="365760" y="2468880"/>
            <a:ext cx="11429640" cy="383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457200" y="25236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Compliance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1"/>
          <p:cNvSpPr/>
          <p:nvPr/>
        </p:nvSpPr>
        <p:spPr>
          <a:xfrm>
            <a:off x="2468880" y="252360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AML screening, PEP check, KYB, customer due diligence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2"/>
          <p:cNvSpPr/>
          <p:nvPr/>
        </p:nvSpPr>
        <p:spPr>
          <a:xfrm>
            <a:off x="6858000" y="25236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Youverify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3"/>
          <p:cNvSpPr/>
          <p:nvPr/>
        </p:nvSpPr>
        <p:spPr>
          <a:xfrm>
            <a:off x="9418320" y="252360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Stage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24"/>
          <p:cNvSpPr/>
          <p:nvPr/>
        </p:nvSpPr>
        <p:spPr>
          <a:xfrm>
            <a:off x="365760" y="2871360"/>
            <a:ext cx="11429640" cy="383760"/>
          </a:xfrm>
          <a:prstGeom prst="rect">
            <a:avLst/>
          </a:prstGeom>
          <a:solidFill>
            <a:srgbClr val="0F1826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5"/>
          <p:cNvSpPr/>
          <p:nvPr/>
        </p:nvSpPr>
        <p:spPr>
          <a:xfrm>
            <a:off x="457200" y="29260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Underwriting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2468880" y="29260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DSCR analysis, bank statements, cash flow, risk score 0–100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7"/>
          <p:cNvSpPr/>
          <p:nvPr/>
        </p:nvSpPr>
        <p:spPr>
          <a:xfrm>
            <a:off x="6858000" y="29260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mono.co Connect · Creditworthiness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8"/>
          <p:cNvSpPr/>
          <p:nvPr/>
        </p:nvSpPr>
        <p:spPr>
          <a:xfrm>
            <a:off x="9418320" y="29260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Stage 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29"/>
          <p:cNvSpPr/>
          <p:nvPr/>
        </p:nvSpPr>
        <p:spPr>
          <a:xfrm>
            <a:off x="365760" y="3273480"/>
            <a:ext cx="11429640" cy="383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30"/>
          <p:cNvSpPr/>
          <p:nvPr/>
        </p:nvSpPr>
        <p:spPr>
          <a:xfrm>
            <a:off x="457200" y="33285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Monitoring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31"/>
          <p:cNvSpPr/>
          <p:nvPr/>
        </p:nvSpPr>
        <p:spPr>
          <a:xfrm>
            <a:off x="2468880" y="332856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Delinquency detection, installment tracking, early warnings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2"/>
          <p:cNvSpPr/>
          <p:nvPr/>
        </p:nvSpPr>
        <p:spPr>
          <a:xfrm>
            <a:off x="6858000" y="33285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Canton ledger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3"/>
          <p:cNvSpPr/>
          <p:nvPr/>
        </p:nvSpPr>
        <p:spPr>
          <a:xfrm>
            <a:off x="9418320" y="33285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Stage 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34"/>
          <p:cNvSpPr/>
          <p:nvPr/>
        </p:nvSpPr>
        <p:spPr>
          <a:xfrm>
            <a:off x="365760" y="4160520"/>
            <a:ext cx="3565800" cy="1234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5"/>
          <p:cNvSpPr/>
          <p:nvPr/>
        </p:nvSpPr>
        <p:spPr>
          <a:xfrm>
            <a:off x="502920" y="42246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≥ 80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6"/>
          <p:cNvSpPr/>
          <p:nvPr/>
        </p:nvSpPr>
        <p:spPr>
          <a:xfrm>
            <a:off x="502920" y="475488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Auto-approve · Low risk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Choice exercised on-chain immediately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37"/>
          <p:cNvSpPr/>
          <p:nvPr/>
        </p:nvSpPr>
        <p:spPr>
          <a:xfrm>
            <a:off x="4206240" y="4160520"/>
            <a:ext cx="3565800" cy="123408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8"/>
          <p:cNvSpPr/>
          <p:nvPr/>
        </p:nvSpPr>
        <p:spPr>
          <a:xfrm>
            <a:off x="4343400" y="42246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50–79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9"/>
          <p:cNvSpPr/>
          <p:nvPr/>
        </p:nvSpPr>
        <p:spPr>
          <a:xfrm>
            <a:off x="4343400" y="4754880"/>
            <a:ext cx="329148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Flag for manual review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Compliance officer notified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40"/>
          <p:cNvSpPr/>
          <p:nvPr/>
        </p:nvSpPr>
        <p:spPr>
          <a:xfrm>
            <a:off x="8046720" y="4160520"/>
            <a:ext cx="3565800" cy="1234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5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41"/>
          <p:cNvSpPr/>
          <p:nvPr/>
        </p:nvSpPr>
        <p:spPr>
          <a:xfrm>
            <a:off x="8183880" y="42246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55353"/>
                </a:solidFill>
                <a:effectLst/>
                <a:uFillTx/>
                <a:latin typeface="Calibri"/>
              </a:rPr>
              <a:t>&lt;  50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2"/>
          <p:cNvSpPr/>
          <p:nvPr/>
        </p:nvSpPr>
        <p:spPr>
          <a:xfrm>
            <a:off x="8183880" y="475488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Auto-reject · High risk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Reason recorded on ledger permanently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3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SHARIAH COMPLIANCE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Shariah Agent — Hard Gate Before Any AML Check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4"/>
          <p:cNvSpPr/>
          <p:nvPr/>
        </p:nvSpPr>
        <p:spPr>
          <a:xfrm>
            <a:off x="365760" y="1280160"/>
            <a:ext cx="11429640" cy="38376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5"/>
          <p:cNvSpPr/>
          <p:nvPr/>
        </p:nvSpPr>
        <p:spPr>
          <a:xfrm>
            <a:off x="457200" y="13258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Verdict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2103120" y="13258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Condition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7406640" y="132588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8"/>
          <p:cNvSpPr/>
          <p:nvPr/>
        </p:nvSpPr>
        <p:spPr>
          <a:xfrm>
            <a:off x="365760" y="1664280"/>
            <a:ext cx="11429640" cy="594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457200" y="17557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COMPLIANT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2103120" y="1710000"/>
            <a:ext cx="5211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Business activity and financing purpose clearly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permissible under AAOIFI Standards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7406640" y="1710000"/>
            <a:ext cx="4297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Set shariahCompliant: true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→ proceed to AML/KYB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2"/>
          <p:cNvSpPr/>
          <p:nvPr/>
        </p:nvSpPr>
        <p:spPr>
          <a:xfrm>
            <a:off x="365760" y="2286000"/>
            <a:ext cx="11429640" cy="594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457200" y="237744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REQUIRES_REVIEW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2103120" y="2331720"/>
            <a:ext cx="5211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Mixed business (5–25% prohibited revenue)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or ambiguous sector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7406640" y="2331720"/>
            <a:ext cx="4297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Run AML/KYB but force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FlagComplianceForManualReview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6"/>
          <p:cNvSpPr/>
          <p:nvPr/>
        </p:nvSpPr>
        <p:spPr>
          <a:xfrm>
            <a:off x="365760" y="2907720"/>
            <a:ext cx="11429640" cy="594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457200" y="2999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55353"/>
                </a:solidFill>
                <a:effectLst/>
                <a:uFillTx/>
                <a:latin typeface="Calibri"/>
              </a:rPr>
              <a:t>NON_COMPLIANT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2103120" y="2953440"/>
            <a:ext cx="5211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Clearly prohibited sector (alcohol, riba, gambling)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or invalid Murabahah structure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9"/>
          <p:cNvSpPr/>
          <p:nvPr/>
        </p:nvSpPr>
        <p:spPr>
          <a:xfrm>
            <a:off x="7406640" y="2953440"/>
            <a:ext cx="4297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Immediately exercise RejectCompliance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No API calls made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20"/>
          <p:cNvSpPr/>
          <p:nvPr/>
        </p:nvSpPr>
        <p:spPr>
          <a:xfrm>
            <a:off x="365760" y="4297680"/>
            <a:ext cx="3565800" cy="21942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1"/>
          <p:cNvSpPr/>
          <p:nvPr/>
        </p:nvSpPr>
        <p:spPr>
          <a:xfrm>
            <a:off x="502920" y="4407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RAG Knowledge 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502920" y="473652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AAOIFI Std No. 8 (Murabahah)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3"/>
          <p:cNvSpPr/>
          <p:nvPr/>
        </p:nvSpPr>
        <p:spPr>
          <a:xfrm>
            <a:off x="502920" y="498348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AAOIFI Std No. 28 (Prohibited Activities)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4"/>
          <p:cNvSpPr/>
          <p:nvPr/>
        </p:nvSpPr>
        <p:spPr>
          <a:xfrm>
            <a:off x="502920" y="523044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AAOIFI Std No. 40 (Distribution of Profit)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5"/>
          <p:cNvSpPr/>
          <p:nvPr/>
        </p:nvSpPr>
        <p:spPr>
          <a:xfrm>
            <a:off x="502920" y="5477400"/>
            <a:ext cx="32914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CBN/SEC NIFI Framework (Nigerian overlay)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26"/>
          <p:cNvSpPr/>
          <p:nvPr/>
        </p:nvSpPr>
        <p:spPr>
          <a:xfrm>
            <a:off x="4251960" y="4297680"/>
            <a:ext cx="3565800" cy="2194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7"/>
          <p:cNvSpPr/>
          <p:nvPr/>
        </p:nvSpPr>
        <p:spPr>
          <a:xfrm>
            <a:off x="4389120" y="4407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MCP Tools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8"/>
          <p:cNvSpPr/>
          <p:nvPr/>
        </p:nvSpPr>
        <p:spPr>
          <a:xfrm>
            <a:off x="4389120" y="473652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query_shariah_ruling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9"/>
          <p:cNvSpPr/>
          <p:nvPr/>
        </p:nvSpPr>
        <p:spPr>
          <a:xfrm>
            <a:off x="4389120" y="498348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→ semantic search over standards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0"/>
          <p:cNvSpPr/>
          <p:nvPr/>
        </p:nvSpPr>
        <p:spPr>
          <a:xfrm>
            <a:off x="4389120" y="523044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check_prohibited_sector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1"/>
          <p:cNvSpPr/>
          <p:nvPr/>
        </p:nvSpPr>
        <p:spPr>
          <a:xfrm>
            <a:off x="4389120" y="547740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→ keyword + embedding match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2"/>
          <p:cNvSpPr/>
          <p:nvPr/>
        </p:nvSpPr>
        <p:spPr>
          <a:xfrm>
            <a:off x="8138160" y="4297680"/>
            <a:ext cx="3565800" cy="21942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3"/>
          <p:cNvSpPr/>
          <p:nvPr/>
        </p:nvSpPr>
        <p:spPr>
          <a:xfrm>
            <a:off x="8275320" y="4407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Embeddings &amp; Store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4"/>
          <p:cNvSpPr/>
          <p:nvPr/>
        </p:nvSpPr>
        <p:spPr>
          <a:xfrm>
            <a:off x="8275320" y="473652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OpenAI text-embedding-3-small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5"/>
          <p:cNvSpPr/>
          <p:nvPr/>
        </p:nvSpPr>
        <p:spPr>
          <a:xfrm>
            <a:off x="8275320" y="498348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Chunk size: 1200, overlap: 200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6"/>
          <p:cNvSpPr/>
          <p:nvPr/>
        </p:nvSpPr>
        <p:spPr>
          <a:xfrm>
            <a:off x="8275320" y="523044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FAISS persistent vector store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7"/>
          <p:cNvSpPr/>
          <p:nvPr/>
        </p:nvSpPr>
        <p:spPr>
          <a:xfrm>
            <a:off x="8275320" y="547740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agents/data/shariah-vectorstore/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8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TECHNOLOGY CHOICE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Why Canton + Daml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4"/>
          <p:cNvSpPr/>
          <p:nvPr/>
        </p:nvSpPr>
        <p:spPr>
          <a:xfrm>
            <a:off x="365760" y="1280160"/>
            <a:ext cx="5577480" cy="310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5"/>
          <p:cNvSpPr/>
          <p:nvPr/>
        </p:nvSpPr>
        <p:spPr>
          <a:xfrm>
            <a:off x="502920" y="135324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What Canton Gives 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502920" y="17373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Sub-transaction privacy — each party sees only their contracts, not each other's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502920" y="213984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Immutable audit trail baked into the ledger protocol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8"/>
          <p:cNvSpPr/>
          <p:nvPr/>
        </p:nvSpPr>
        <p:spPr>
          <a:xfrm>
            <a:off x="502920" y="25419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Bilateral contract execution — both borrower &amp; institution must sign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9"/>
          <p:cNvSpPr/>
          <p:nvPr/>
        </p:nvSpPr>
        <p:spPr>
          <a:xfrm>
            <a:off x="502920" y="294444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Contract keys (LF 2.3) enforce one active record per CAC number and per FI party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502920" y="33465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Regulator observes ApprovedProvider, MurabahahContract &amp; PortfolioReport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11"/>
          <p:cNvSpPr/>
          <p:nvPr/>
        </p:nvSpPr>
        <p:spPr>
          <a:xfrm>
            <a:off x="6263640" y="1280160"/>
            <a:ext cx="5577480" cy="310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2"/>
          <p:cNvSpPr/>
          <p:nvPr/>
        </p:nvSpPr>
        <p:spPr>
          <a:xfrm>
            <a:off x="6400800" y="135324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What Daml Gives 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3"/>
          <p:cNvSpPr/>
          <p:nvPr/>
        </p:nvSpPr>
        <p:spPr>
          <a:xfrm>
            <a:off x="6400800" y="17373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Type-safe choice logic — invalid workflow transitions are compile-time errors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4"/>
          <p:cNvSpPr/>
          <p:nvPr/>
        </p:nvSpPr>
        <p:spPr>
          <a:xfrm>
            <a:off x="6400800" y="213984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Role-based authorization enforced by the ledger, not application code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5"/>
          <p:cNvSpPr/>
          <p:nvPr/>
        </p:nvSpPr>
        <p:spPr>
          <a:xfrm>
            <a:off x="6400800" y="25419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20 templates across 7 modules — full dual-onboarding lifecycle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6"/>
          <p:cNvSpPr/>
          <p:nvPr/>
        </p:nvSpPr>
        <p:spPr>
          <a:xfrm>
            <a:off x="6400800" y="294444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226 Daml Script tests — all passing across 5 test files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7"/>
          <p:cNvSpPr/>
          <p:nvPr/>
        </p:nvSpPr>
        <p:spPr>
          <a:xfrm>
            <a:off x="6400800" y="334656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Import DAG: Types → FinancingProvider; Types → Compliance → Financing → Murabahah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8"/>
          <p:cNvSpPr/>
          <p:nvPr/>
        </p:nvSpPr>
        <p:spPr>
          <a:xfrm>
            <a:off x="365760" y="4617720"/>
            <a:ext cx="11429640" cy="77688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ctangle 19"/>
          <p:cNvSpPr/>
          <p:nvPr/>
        </p:nvSpPr>
        <p:spPr>
          <a:xfrm>
            <a:off x="365760" y="4617720"/>
            <a:ext cx="54360" cy="7768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20"/>
          <p:cNvSpPr/>
          <p:nvPr/>
        </p:nvSpPr>
        <p:spPr>
          <a:xfrm>
            <a:off x="548640" y="468180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"This isn't blockchain for the sake of it. Canton's privacy model is the only way to run a shared SME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credit infrastructure where borrowers, institutions, and regulators coexist without leaking data to each other."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1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ARCHITECTURE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Full-Stack: Smart Contracts + AI Agents + Real APIs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4"/>
          <p:cNvSpPr/>
          <p:nvPr/>
        </p:nvSpPr>
        <p:spPr>
          <a:xfrm>
            <a:off x="4754880" y="1280160"/>
            <a:ext cx="265140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4846320" y="13168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React Frontend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6"/>
          <p:cNvSpPr/>
          <p:nvPr/>
        </p:nvSpPr>
        <p:spPr>
          <a:xfrm>
            <a:off x="5760720" y="17190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  HTTP / REST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4206240" y="2011680"/>
            <a:ext cx="374868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4297680" y="20484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Node.js / Express Backend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9"/>
          <p:cNvSpPr/>
          <p:nvPr/>
        </p:nvSpPr>
        <p:spPr>
          <a:xfrm>
            <a:off x="3840480" y="2450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 Writes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0"/>
          <p:cNvSpPr/>
          <p:nvPr/>
        </p:nvSpPr>
        <p:spPr>
          <a:xfrm>
            <a:off x="7315200" y="2450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 Reads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11"/>
          <p:cNvSpPr/>
          <p:nvPr/>
        </p:nvSpPr>
        <p:spPr>
          <a:xfrm>
            <a:off x="2651760" y="2743200"/>
            <a:ext cx="320004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2743200" y="27799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Canton HTTP JSON API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13"/>
          <p:cNvSpPr/>
          <p:nvPr/>
        </p:nvSpPr>
        <p:spPr>
          <a:xfrm>
            <a:off x="6309360" y="2743200"/>
            <a:ext cx="320004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14"/>
          <p:cNvSpPr/>
          <p:nvPr/>
        </p:nvSpPr>
        <p:spPr>
          <a:xfrm>
            <a:off x="6400800" y="27799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PQS PostgreSQL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5"/>
          <p:cNvSpPr/>
          <p:nvPr/>
        </p:nvSpPr>
        <p:spPr>
          <a:xfrm>
            <a:off x="3840480" y="3182040"/>
            <a:ext cx="137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  gRPC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6"/>
          <p:cNvSpPr/>
          <p:nvPr/>
        </p:nvSpPr>
        <p:spPr>
          <a:xfrm>
            <a:off x="6492240" y="31820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↑  Scribe (stream)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17"/>
          <p:cNvSpPr/>
          <p:nvPr/>
        </p:nvSpPr>
        <p:spPr>
          <a:xfrm>
            <a:off x="4114800" y="3474720"/>
            <a:ext cx="393156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18"/>
          <p:cNvSpPr/>
          <p:nvPr/>
        </p:nvSpPr>
        <p:spPr>
          <a:xfrm>
            <a:off x="4206240" y="35114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Canton Ledger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9"/>
          <p:cNvSpPr/>
          <p:nvPr/>
        </p:nvSpPr>
        <p:spPr>
          <a:xfrm>
            <a:off x="5303520" y="39135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↕  polls + exercises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20"/>
          <p:cNvSpPr/>
          <p:nvPr/>
        </p:nvSpPr>
        <p:spPr>
          <a:xfrm>
            <a:off x="3200400" y="4206240"/>
            <a:ext cx="5760360" cy="411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3291840" y="424296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AI Agents  (deepagents / LangGraph)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2"/>
          <p:cNvSpPr/>
          <p:nvPr/>
        </p:nvSpPr>
        <p:spPr>
          <a:xfrm>
            <a:off x="3931920" y="464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3"/>
          <p:cNvSpPr/>
          <p:nvPr/>
        </p:nvSpPr>
        <p:spPr>
          <a:xfrm>
            <a:off x="5943600" y="464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4"/>
          <p:cNvSpPr/>
          <p:nvPr/>
        </p:nvSpPr>
        <p:spPr>
          <a:xfrm>
            <a:off x="7955280" y="464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25"/>
          <p:cNvSpPr/>
          <p:nvPr/>
        </p:nvSpPr>
        <p:spPr>
          <a:xfrm>
            <a:off x="3017520" y="4937760"/>
            <a:ext cx="2468520" cy="685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26"/>
          <p:cNvSpPr/>
          <p:nvPr/>
        </p:nvSpPr>
        <p:spPr>
          <a:xfrm>
            <a:off x="3108960" y="497448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mono.co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KYC · DSCR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27"/>
          <p:cNvSpPr/>
          <p:nvPr/>
        </p:nvSpPr>
        <p:spPr>
          <a:xfrm>
            <a:off x="5760720" y="4937760"/>
            <a:ext cx="2468520" cy="685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28"/>
          <p:cNvSpPr/>
          <p:nvPr/>
        </p:nvSpPr>
        <p:spPr>
          <a:xfrm>
            <a:off x="5852160" y="497448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Youverify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AML · KYB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29"/>
          <p:cNvSpPr/>
          <p:nvPr/>
        </p:nvSpPr>
        <p:spPr>
          <a:xfrm>
            <a:off x="8503920" y="4937760"/>
            <a:ext cx="2468520" cy="685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30"/>
          <p:cNvSpPr/>
          <p:nvPr/>
        </p:nvSpPr>
        <p:spPr>
          <a:xfrm>
            <a:off x="8595360" y="497448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Shariah RAG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FAISS · AAOIFI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31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LIVE DEMO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SME Applies for ₦5M Murabahah Financing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"/>
          <p:cNvSpPr/>
          <p:nvPr/>
        </p:nvSpPr>
        <p:spPr>
          <a:xfrm>
            <a:off x="365760" y="1344240"/>
            <a:ext cx="328680" cy="32868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5"/>
          <p:cNvSpPr/>
          <p:nvPr/>
        </p:nvSpPr>
        <p:spPr>
          <a:xfrm>
            <a:off x="365760" y="136260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6"/>
          <p:cNvSpPr/>
          <p:nvPr/>
        </p:nvSpPr>
        <p:spPr>
          <a:xfrm>
            <a:off x="804600" y="134424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Wema Islamic Finance Ltd registers as a provider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7"/>
          <p:cNvSpPr/>
          <p:nvPr/>
        </p:nvSpPr>
        <p:spPr>
          <a:xfrm>
            <a:off x="804600" y="160920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Submits CBN NIFI license, declares Murabahah + Ijarah. Vetify approves → ApprovedProvider contract on-chain.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8"/>
          <p:cNvSpPr/>
          <p:nvPr/>
        </p:nvSpPr>
        <p:spPr>
          <a:xfrm>
            <a:off x="365760" y="1920240"/>
            <a:ext cx="328680" cy="3286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9"/>
          <p:cNvSpPr/>
          <p:nvPr/>
        </p:nvSpPr>
        <p:spPr>
          <a:xfrm>
            <a:off x="365760" y="193860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0"/>
          <p:cNvSpPr/>
          <p:nvPr/>
        </p:nvSpPr>
        <p:spPr>
          <a:xfrm>
            <a:off x="804600" y="192024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Borrower submits onboarding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1"/>
          <p:cNvSpPr/>
          <p:nvPr/>
        </p:nvSpPr>
        <p:spPr>
          <a:xfrm>
            <a:off x="804600" y="218556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Business profile, CAC number, BVN, NIN, directors list, KYC docs.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2"/>
          <p:cNvSpPr/>
          <p:nvPr/>
        </p:nvSpPr>
        <p:spPr>
          <a:xfrm>
            <a:off x="365760" y="2496240"/>
            <a:ext cx="328680" cy="3286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13"/>
          <p:cNvSpPr/>
          <p:nvPr/>
        </p:nvSpPr>
        <p:spPr>
          <a:xfrm>
            <a:off x="365760" y="251460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4"/>
          <p:cNvSpPr/>
          <p:nvPr/>
        </p:nvSpPr>
        <p:spPr>
          <a:xfrm>
            <a:off x="804600" y="249624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Verification Agent runs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5"/>
          <p:cNvSpPr/>
          <p:nvPr/>
        </p:nvSpPr>
        <p:spPr>
          <a:xfrm>
            <a:off x="804600" y="276156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NIN/BVN/CAC/TIN checked via mono.co. Score: 82/100. Auto-approves on-chain instantly.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16"/>
          <p:cNvSpPr/>
          <p:nvPr/>
        </p:nvSpPr>
        <p:spPr>
          <a:xfrm>
            <a:off x="365760" y="3072240"/>
            <a:ext cx="328680" cy="32868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17"/>
          <p:cNvSpPr/>
          <p:nvPr/>
        </p:nvSpPr>
        <p:spPr>
          <a:xfrm>
            <a:off x="365760" y="309060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8"/>
          <p:cNvSpPr/>
          <p:nvPr/>
        </p:nvSpPr>
        <p:spPr>
          <a:xfrm>
            <a:off x="804600" y="307224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Shariah Agent screens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9"/>
          <p:cNvSpPr/>
          <p:nvPr/>
        </p:nvSpPr>
        <p:spPr>
          <a:xfrm>
            <a:off x="804600" y="333756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Textile trade cleared against AAOIFI Std No. 28. Verdict: COMPLIANT. Proceeds to AML.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20"/>
          <p:cNvSpPr/>
          <p:nvPr/>
        </p:nvSpPr>
        <p:spPr>
          <a:xfrm>
            <a:off x="365760" y="3648600"/>
            <a:ext cx="328680" cy="3286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21"/>
          <p:cNvSpPr/>
          <p:nvPr/>
        </p:nvSpPr>
        <p:spPr>
          <a:xfrm>
            <a:off x="365760" y="366660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2"/>
          <p:cNvSpPr/>
          <p:nvPr/>
        </p:nvSpPr>
        <p:spPr>
          <a:xfrm>
            <a:off x="804600" y="3648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Compliance Agent runs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3"/>
          <p:cNvSpPr/>
          <p:nvPr/>
        </p:nvSpPr>
        <p:spPr>
          <a:xfrm>
            <a:off x="804600" y="391356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AML, PEP, KYB, CDD all pass via Youverify. ApprovedBorrower contract created on-chain.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24"/>
          <p:cNvSpPr/>
          <p:nvPr/>
        </p:nvSpPr>
        <p:spPr>
          <a:xfrm>
            <a:off x="365760" y="4224600"/>
            <a:ext cx="328680" cy="3286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25"/>
          <p:cNvSpPr/>
          <p:nvPr/>
        </p:nvSpPr>
        <p:spPr>
          <a:xfrm>
            <a:off x="365760" y="424296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6"/>
          <p:cNvSpPr/>
          <p:nvPr/>
        </p:nvSpPr>
        <p:spPr>
          <a:xfrm>
            <a:off x="804600" y="4224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Borrower submits ₦5M financing request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27"/>
          <p:cNvSpPr/>
          <p:nvPr/>
        </p:nvSpPr>
        <p:spPr>
          <a:xfrm>
            <a:off x="804600" y="448956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Purpose: inventory purchase, 12-month tenure.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28"/>
          <p:cNvSpPr/>
          <p:nvPr/>
        </p:nvSpPr>
        <p:spPr>
          <a:xfrm>
            <a:off x="365760" y="4800600"/>
            <a:ext cx="328680" cy="32868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29"/>
          <p:cNvSpPr/>
          <p:nvPr/>
        </p:nvSpPr>
        <p:spPr>
          <a:xfrm>
            <a:off x="365760" y="481896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0"/>
          <p:cNvSpPr/>
          <p:nvPr/>
        </p:nvSpPr>
        <p:spPr>
          <a:xfrm>
            <a:off x="804600" y="4800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Underwriting Agent analyses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1"/>
          <p:cNvSpPr/>
          <p:nvPr/>
        </p:nvSpPr>
        <p:spPr>
          <a:xfrm>
            <a:off x="804600" y="506592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Bank statements via mono.co Connect. DSCR: 1.8. Score: 78. Recommends ₦7M limit.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32"/>
          <p:cNvSpPr/>
          <p:nvPr/>
        </p:nvSpPr>
        <p:spPr>
          <a:xfrm>
            <a:off x="365760" y="5376600"/>
            <a:ext cx="328680" cy="32868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33"/>
          <p:cNvSpPr/>
          <p:nvPr/>
        </p:nvSpPr>
        <p:spPr>
          <a:xfrm>
            <a:off x="365760" y="539496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34"/>
          <p:cNvSpPr/>
          <p:nvPr/>
        </p:nvSpPr>
        <p:spPr>
          <a:xfrm>
            <a:off x="804600" y="5376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Institution approves &amp; executes Murabahah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35"/>
          <p:cNvSpPr/>
          <p:nvPr/>
        </p:nvSpPr>
        <p:spPr>
          <a:xfrm>
            <a:off x="804600" y="5641920"/>
            <a:ext cx="10789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Wad(promise to buy)→ Wakala(optional agency) → Asset Purchase → Qabdh(contract acceptance) → Proposal → Bilateral Contract.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36"/>
          <p:cNvSpPr/>
          <p:nvPr/>
        </p:nvSpPr>
        <p:spPr>
          <a:xfrm>
            <a:off x="365760" y="5952600"/>
            <a:ext cx="328680" cy="32868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37"/>
          <p:cNvSpPr/>
          <p:nvPr/>
        </p:nvSpPr>
        <p:spPr>
          <a:xfrm>
            <a:off x="365760" y="597096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8"/>
          <p:cNvSpPr/>
          <p:nvPr/>
        </p:nvSpPr>
        <p:spPr>
          <a:xfrm>
            <a:off x="804600" y="5952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Monitoring Agent flags delinquency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39"/>
          <p:cNvSpPr/>
          <p:nvPr/>
        </p:nvSpPr>
        <p:spPr>
          <a:xfrm>
            <a:off x="804600" y="621792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Installment 2 overdue by 7 days. FlagDelinquent exercised. PortfolioReport updated.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40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00B89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HACKATHON 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Fully Functional MVP — Every Stage Implemented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4"/>
          <p:cNvSpPr/>
          <p:nvPr/>
        </p:nvSpPr>
        <p:spPr>
          <a:xfrm>
            <a:off x="365760" y="1280160"/>
            <a:ext cx="2925720" cy="457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5"/>
          <p:cNvSpPr/>
          <p:nvPr/>
        </p:nvSpPr>
        <p:spPr>
          <a:xfrm>
            <a:off x="502920" y="1353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Daml Smart Contracts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6"/>
          <p:cNvSpPr/>
          <p:nvPr/>
        </p:nvSpPr>
        <p:spPr>
          <a:xfrm>
            <a:off x="502920" y="1783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20 templates across 7 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7"/>
          <p:cNvSpPr/>
          <p:nvPr/>
        </p:nvSpPr>
        <p:spPr>
          <a:xfrm>
            <a:off x="502920" y="21214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FinancingProviderOnboarding + ApprovedProvider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8"/>
          <p:cNvSpPr/>
          <p:nvPr/>
        </p:nvSpPr>
        <p:spPr>
          <a:xfrm>
            <a:off x="502920" y="2459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ApproveFunding gated on instrument permissions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9"/>
          <p:cNvSpPr/>
          <p:nvPr/>
        </p:nvSpPr>
        <p:spPr>
          <a:xfrm>
            <a:off x="502920" y="2797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Full Murabahah AAOIFI Std No. 8 acquisition chain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0"/>
          <p:cNvSpPr/>
          <p:nvPr/>
        </p:nvSpPr>
        <p:spPr>
          <a:xfrm>
            <a:off x="502920" y="31363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Bilateral signatory; Ibra, Rahn, LatePaymentCharity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1"/>
          <p:cNvSpPr/>
          <p:nvPr/>
        </p:nvSpPr>
        <p:spPr>
          <a:xfrm>
            <a:off x="502920" y="34747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226 Daml Script tests — all passing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2"/>
          <p:cNvSpPr/>
          <p:nvPr/>
        </p:nvSpPr>
        <p:spPr>
          <a:xfrm>
            <a:off x="3429000" y="1280160"/>
            <a:ext cx="2925720" cy="457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13"/>
          <p:cNvSpPr/>
          <p:nvPr/>
        </p:nvSpPr>
        <p:spPr>
          <a:xfrm>
            <a:off x="3566160" y="1353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AI Agent System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4"/>
          <p:cNvSpPr/>
          <p:nvPr/>
        </p:nvSpPr>
        <p:spPr>
          <a:xfrm>
            <a:off x="3566160" y="1783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5 agents — deepagents / LangGraph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5"/>
          <p:cNvSpPr/>
          <p:nvPr/>
        </p:nvSpPr>
        <p:spPr>
          <a:xfrm>
            <a:off x="3566160" y="21214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Shariah RAG — FAISS + AAOIFI PDFs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6"/>
          <p:cNvSpPr/>
          <p:nvPr/>
        </p:nvSpPr>
        <p:spPr>
          <a:xfrm>
            <a:off x="3566160" y="2459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mono.co: KYC, DSCR, bank statements, credit history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7"/>
          <p:cNvSpPr/>
          <p:nvPr/>
        </p:nvSpPr>
        <p:spPr>
          <a:xfrm>
            <a:off x="3566160" y="2797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Youverify: AML, PEP, adverse media, KYB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8"/>
          <p:cNvSpPr/>
          <p:nvPr/>
        </p:nvSpPr>
        <p:spPr>
          <a:xfrm>
            <a:off x="3566160" y="31363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Model C risk-gating with human-in-the-loop interrupts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9"/>
          <p:cNvSpPr/>
          <p:nvPr/>
        </p:nvSpPr>
        <p:spPr>
          <a:xfrm>
            <a:off x="3566160" y="34747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ACP server → IDE integration (VS Code / JetBrains)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20"/>
          <p:cNvSpPr/>
          <p:nvPr/>
        </p:nvSpPr>
        <p:spPr>
          <a:xfrm>
            <a:off x="6492240" y="1280160"/>
            <a:ext cx="2925720" cy="457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21"/>
          <p:cNvSpPr/>
          <p:nvPr/>
        </p:nvSpPr>
        <p:spPr>
          <a:xfrm>
            <a:off x="6629400" y="1353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Backend + Infrastructure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22"/>
          <p:cNvSpPr/>
          <p:nvPr/>
        </p:nvSpPr>
        <p:spPr>
          <a:xfrm>
            <a:off x="6629400" y="1783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Node.js/Express API — Canton HTTP JSON API writes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3"/>
          <p:cNvSpPr/>
          <p:nvPr/>
        </p:nvSpPr>
        <p:spPr>
          <a:xfrm>
            <a:off x="6629400" y="21214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PQS PostgreSQL reads via Scribe sidecar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4"/>
          <p:cNvSpPr/>
          <p:nvPr/>
        </p:nvSpPr>
        <p:spPr>
          <a:xfrm>
            <a:off x="6629400" y="2459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4 MCP servers (Canton · mono · Youverify · Shariah)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5"/>
          <p:cNvSpPr/>
          <p:nvPr/>
        </p:nvSpPr>
        <p:spPr>
          <a:xfrm>
            <a:off x="6629400" y="2797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Docker Compose: PQS + Scribe + Canton sandbox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26"/>
          <p:cNvSpPr/>
          <p:nvPr/>
        </p:nvSpPr>
        <p:spPr>
          <a:xfrm>
            <a:off x="9509760" y="1280160"/>
            <a:ext cx="2925720" cy="457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27"/>
          <p:cNvSpPr/>
          <p:nvPr/>
        </p:nvSpPr>
        <p:spPr>
          <a:xfrm>
            <a:off x="9646920" y="1353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Frontend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8"/>
          <p:cNvSpPr/>
          <p:nvPr/>
        </p:nvSpPr>
        <p:spPr>
          <a:xfrm>
            <a:off x="9646920" y="1783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React dashboard — borrower + institution views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9"/>
          <p:cNvSpPr/>
          <p:nvPr/>
        </p:nvSpPr>
        <p:spPr>
          <a:xfrm>
            <a:off x="9646920" y="21214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Real-time contract status from PQS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30"/>
          <p:cNvSpPr/>
          <p:nvPr/>
        </p:nvSpPr>
        <p:spPr>
          <a:xfrm>
            <a:off x="9646920" y="2459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Financing lifecycle progress tracker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31"/>
          <p:cNvSpPr/>
          <p:nvPr/>
        </p:nvSpPr>
        <p:spPr>
          <a:xfrm>
            <a:off x="9646920" y="2797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✓  Repayment schedule &amp; delinquency alerts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32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2"/>
          <p:cNvSpPr/>
          <p:nvPr/>
        </p:nvSpPr>
        <p:spPr>
          <a:xfrm>
            <a:off x="457200" y="2743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OPPORTUNITY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3"/>
          <p:cNvSpPr/>
          <p:nvPr/>
        </p:nvSpPr>
        <p:spPr>
          <a:xfrm>
            <a:off x="457200" y="5029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DF5"/>
                </a:solidFill>
                <a:effectLst/>
                <a:uFillTx/>
                <a:latin typeface="Calibri"/>
              </a:rPr>
              <a:t>Non-Interest Finance Needs Digital Rails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4"/>
          <p:cNvSpPr/>
          <p:nvPr/>
        </p:nvSpPr>
        <p:spPr>
          <a:xfrm>
            <a:off x="365760" y="1280160"/>
            <a:ext cx="5486040" cy="210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5"/>
          <p:cNvSpPr/>
          <p:nvPr/>
        </p:nvSpPr>
        <p:spPr>
          <a:xfrm>
            <a:off x="502920" y="135324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Market Opportunity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502920" y="173736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40M+ Nigerian SMEs excluded from conventional credit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7"/>
          <p:cNvSpPr/>
          <p:nvPr/>
        </p:nvSpPr>
        <p:spPr>
          <a:xfrm>
            <a:off x="502920" y="2075760"/>
            <a:ext cx="5211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CBN/SEC NIFIs, Waqf funds, cooperatives, philanthropies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  all lack shared digital infrastructure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8"/>
          <p:cNvSpPr/>
          <p:nvPr/>
        </p:nvSpPr>
        <p:spPr>
          <a:xfrm>
            <a:off x="502920" y="241416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Global Islamic finance: $4.5T AUM, 10–12% annual growth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9"/>
          <p:cNvSpPr/>
          <p:nvPr/>
        </p:nvSpPr>
        <p:spPr>
          <a:xfrm>
            <a:off x="502920" y="275220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Nigeria's non-interest banking sector in early-growth phase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10"/>
          <p:cNvSpPr/>
          <p:nvPr/>
        </p:nvSpPr>
        <p:spPr>
          <a:xfrm>
            <a:off x="6263640" y="1280160"/>
            <a:ext cx="5486040" cy="210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11"/>
          <p:cNvSpPr/>
          <p:nvPr/>
        </p:nvSpPr>
        <p:spPr>
          <a:xfrm>
            <a:off x="6400800" y="135324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What's Next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6400800" y="173736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Production deployment on Canton mainnet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3"/>
          <p:cNvSpPr/>
          <p:nvPr/>
        </p:nvSpPr>
        <p:spPr>
          <a:xfrm>
            <a:off x="6400800" y="207576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CBN NIFI regulatory sandbox application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14"/>
          <p:cNvSpPr/>
          <p:nvPr/>
        </p:nvSpPr>
        <p:spPr>
          <a:xfrm>
            <a:off x="6400800" y="241416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Ijarah and QardHasan financing modules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  (instrument expansion)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15"/>
          <p:cNvSpPr/>
          <p:nvPr/>
        </p:nvSpPr>
        <p:spPr>
          <a:xfrm>
            <a:off x="6400800" y="275220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• Shariah board advisory (AAOIFI certification track)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16"/>
          <p:cNvSpPr/>
          <p:nvPr/>
        </p:nvSpPr>
        <p:spPr>
          <a:xfrm>
            <a:off x="365760" y="356616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17"/>
          <p:cNvSpPr/>
          <p:nvPr/>
        </p:nvSpPr>
        <p:spPr>
          <a:xfrm>
            <a:off x="548640" y="365760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₦5M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18"/>
          <p:cNvSpPr/>
          <p:nvPr/>
        </p:nvSpPr>
        <p:spPr>
          <a:xfrm>
            <a:off x="548640" y="42519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Average SME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financing request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19"/>
          <p:cNvSpPr/>
          <p:nvPr/>
        </p:nvSpPr>
        <p:spPr>
          <a:xfrm>
            <a:off x="4069080" y="356616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20"/>
          <p:cNvSpPr/>
          <p:nvPr/>
        </p:nvSpPr>
        <p:spPr>
          <a:xfrm>
            <a:off x="4251960" y="3657600"/>
            <a:ext cx="283428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894"/>
                </a:solidFill>
                <a:effectLst/>
                <a:uFillTx/>
                <a:latin typeface="Calibri"/>
              </a:rPr>
              <a:t>&lt; 24h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1"/>
          <p:cNvSpPr/>
          <p:nvPr/>
        </p:nvSpPr>
        <p:spPr>
          <a:xfrm>
            <a:off x="4251960" y="42519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Target approval 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vs. weeks manually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22"/>
          <p:cNvSpPr/>
          <p:nvPr/>
        </p:nvSpPr>
        <p:spPr>
          <a:xfrm>
            <a:off x="7772400" y="3566160"/>
            <a:ext cx="3200040" cy="1279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23"/>
          <p:cNvSpPr/>
          <p:nvPr/>
        </p:nvSpPr>
        <p:spPr>
          <a:xfrm>
            <a:off x="7955280" y="365760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100%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24"/>
          <p:cNvSpPr/>
          <p:nvPr/>
        </p:nvSpPr>
        <p:spPr>
          <a:xfrm>
            <a:off x="7955280" y="42519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Audit trail on-chain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every decision recorded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25"/>
          <p:cNvSpPr/>
          <p:nvPr/>
        </p:nvSpPr>
        <p:spPr>
          <a:xfrm>
            <a:off x="365760" y="5029200"/>
            <a:ext cx="11429640" cy="776880"/>
          </a:xfrm>
          <a:prstGeom prst="rect">
            <a:avLst/>
          </a:prstGeom>
          <a:solidFill>
            <a:srgbClr val="1A2235"/>
          </a:solidFill>
          <a:ln w="127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26"/>
          <p:cNvSpPr/>
          <p:nvPr/>
        </p:nvSpPr>
        <p:spPr>
          <a:xfrm>
            <a:off x="548640" y="5148000"/>
            <a:ext cx="1106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"Vetify — Where Shariah compliance, AI intelligence, and blockchain trust meet."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27"/>
          <p:cNvSpPr/>
          <p:nvPr/>
        </p:nvSpPr>
        <p:spPr>
          <a:xfrm>
            <a:off x="9601200" y="649224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A3A50"/>
                </a:solidFill>
                <a:effectLst/>
                <a:uFillTx/>
                <a:latin typeface="Calibri"/>
              </a:rPr>
              <a:t>Vetify · Hackathon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LibreOffice/26.2.4.2$Linux_X86_64 LibreOffice_project/3346a99e6b841765b75a9b29714a5b95c6761ce3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2026-06-29T11:12:05Z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